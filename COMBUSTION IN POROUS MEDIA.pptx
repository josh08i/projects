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Futura" panose="020B0604020202020204" charset="0"/>
      <p:regular r:id="rId28"/>
    </p:embeddedFont>
    <p:embeddedFont>
      <p:font typeface="Josefin Sans Regular" panose="020B0604020202020204" charset="0"/>
      <p:regular r:id="rId29"/>
    </p:embeddedFont>
    <p:embeddedFont>
      <p:font typeface="Josefin Sans Thin 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54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04384"/>
            <a:ext cx="17259300" cy="3376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880"/>
              </a:lnSpc>
            </a:pPr>
            <a:r>
              <a:rPr lang="en-US" sz="9200">
                <a:solidFill>
                  <a:srgbClr val="FFFAEB"/>
                </a:solidFill>
                <a:latin typeface="Futura"/>
              </a:rPr>
              <a:t>COMBUSTION IN POROUS MEDIA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7547610"/>
            <a:ext cx="6671287" cy="171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399">
                <a:solidFill>
                  <a:srgbClr val="FFFAEB"/>
                </a:solidFill>
                <a:latin typeface="Futura"/>
              </a:rPr>
              <a:t>Joshi Hrushikesh Ashutosh  20ME02002</a:t>
            </a:r>
          </a:p>
          <a:p>
            <a:pPr>
              <a:lnSpc>
                <a:spcPts val="3359"/>
              </a:lnSpc>
            </a:pPr>
            <a:r>
              <a:rPr lang="en-US" sz="2399">
                <a:solidFill>
                  <a:srgbClr val="FFFAEB"/>
                </a:solidFill>
                <a:latin typeface="Futura"/>
              </a:rPr>
              <a:t>Sanskaar Shrivastava        20ME02018</a:t>
            </a:r>
          </a:p>
          <a:p>
            <a:pPr>
              <a:lnSpc>
                <a:spcPts val="3359"/>
              </a:lnSpc>
            </a:pPr>
            <a:r>
              <a:rPr lang="en-US" sz="2399">
                <a:solidFill>
                  <a:srgbClr val="FFFAEB"/>
                </a:solidFill>
                <a:latin typeface="Futura"/>
              </a:rPr>
              <a:t>Vardhan Mittal                 20ME02034</a:t>
            </a:r>
          </a:p>
          <a:p>
            <a:pPr>
              <a:lnSpc>
                <a:spcPts val="3359"/>
              </a:lnSpc>
            </a:pPr>
            <a:r>
              <a:rPr lang="en-US" sz="2399">
                <a:solidFill>
                  <a:srgbClr val="FFFAEB"/>
                </a:solidFill>
                <a:latin typeface="Futura"/>
              </a:rPr>
              <a:t>3rd Year Dual Degree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51019" y="7547610"/>
            <a:ext cx="5808281" cy="171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399">
                <a:solidFill>
                  <a:srgbClr val="FFFAEB"/>
                </a:solidFill>
                <a:latin typeface="Futura"/>
              </a:rPr>
              <a:t>Under the guidance of</a:t>
            </a:r>
          </a:p>
          <a:p>
            <a:pPr>
              <a:lnSpc>
                <a:spcPts val="3359"/>
              </a:lnSpc>
            </a:pPr>
            <a:r>
              <a:rPr lang="en-US" sz="2399">
                <a:solidFill>
                  <a:srgbClr val="FFFAEB"/>
                </a:solidFill>
                <a:latin typeface="Futura"/>
              </a:rPr>
              <a:t>Dr. S. Kondaraju</a:t>
            </a:r>
          </a:p>
          <a:p>
            <a:pPr>
              <a:lnSpc>
                <a:spcPts val="3359"/>
              </a:lnSpc>
            </a:pPr>
            <a:r>
              <a:rPr lang="en-US" sz="2399">
                <a:solidFill>
                  <a:srgbClr val="FFFAEB"/>
                </a:solidFill>
                <a:latin typeface="Futura"/>
              </a:rPr>
              <a:t>School of Mehcanical Sciences</a:t>
            </a:r>
          </a:p>
          <a:p>
            <a:pPr>
              <a:lnSpc>
                <a:spcPts val="3359"/>
              </a:lnSpc>
            </a:pPr>
            <a:r>
              <a:rPr lang="en-US" sz="2399">
                <a:solidFill>
                  <a:srgbClr val="FFFAEB"/>
                </a:solidFill>
                <a:latin typeface="Futura"/>
              </a:rPr>
              <a:t>Indian Institute of Technology Bhubaneswar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418050" y="4706321"/>
            <a:ext cx="6869950" cy="8743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6778" y="222880"/>
            <a:ext cx="6169223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Futura"/>
              </a:rPr>
              <a:t>CONTENTS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982259"/>
            <a:ext cx="7644658" cy="621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Futura"/>
              </a:rPr>
              <a:t>PROBLEM STATMENT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Futura"/>
              </a:rPr>
              <a:t>GOVERNING EQUATIONS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Futura"/>
              </a:rPr>
              <a:t>BOUNDARY &amp; INITIAL CONDITIONS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Futura"/>
              </a:rPr>
              <a:t>SET-UP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Futura"/>
              </a:rPr>
              <a:t>ADVECTION VS. DIFFUSION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Futura"/>
              </a:rPr>
              <a:t>NUMERICAL SCHEME &amp; ACCURACY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Futura"/>
              </a:rPr>
              <a:t>ALGORITHM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Futura"/>
              </a:rPr>
              <a:t>RESIDUALS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Futura"/>
              </a:rPr>
              <a:t>STABILTIY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Futura"/>
              </a:rPr>
              <a:t>GRID INDEPENDENCE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Futura"/>
              </a:rPr>
              <a:t>RESULTS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Futura"/>
              </a:rPr>
              <a:t>PHYSICS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2622"/>
          <a:stretch>
            <a:fillRect/>
          </a:stretch>
        </p:blipFill>
        <p:spPr>
          <a:xfrm>
            <a:off x="12742010" y="3175314"/>
            <a:ext cx="3595397" cy="209893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8552568" y="3148326"/>
            <a:ext cx="9543909" cy="3753818"/>
            <a:chOff x="0" y="0"/>
            <a:chExt cx="12725212" cy="5005090"/>
          </a:xfrm>
        </p:grpSpPr>
        <p:grpSp>
          <p:nvGrpSpPr>
            <p:cNvPr id="4" name="Group 4"/>
            <p:cNvGrpSpPr/>
            <p:nvPr/>
          </p:nvGrpSpPr>
          <p:grpSpPr>
            <a:xfrm>
              <a:off x="5416265" y="19050"/>
              <a:ext cx="399274" cy="2820058"/>
              <a:chOff x="0" y="0"/>
              <a:chExt cx="115079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1507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15079" h="812800">
                    <a:moveTo>
                      <a:pt x="0" y="0"/>
                    </a:moveTo>
                    <a:lnTo>
                      <a:pt x="115079" y="0"/>
                    </a:lnTo>
                    <a:lnTo>
                      <a:pt x="115079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85725"/>
                <a:ext cx="812800" cy="898525"/>
              </a:xfrm>
              <a:prstGeom prst="rect">
                <a:avLst/>
              </a:prstGeom>
            </p:spPr>
            <p:txBody>
              <a:bodyPr lIns="36902" tIns="36902" rIns="36902" bIns="36902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2671708" y="2839108"/>
              <a:ext cx="7713404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AutoShape 8"/>
            <p:cNvSpPr/>
            <p:nvPr/>
          </p:nvSpPr>
          <p:spPr>
            <a:xfrm>
              <a:off x="2671708" y="19050"/>
              <a:ext cx="7713404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AutoShape 9"/>
            <p:cNvSpPr/>
            <p:nvPr/>
          </p:nvSpPr>
          <p:spPr>
            <a:xfrm>
              <a:off x="2030258" y="497758"/>
              <a:ext cx="2124592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2030258" y="1405144"/>
              <a:ext cx="2124592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2030258" y="2360401"/>
              <a:ext cx="2124592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8681365" y="497758"/>
              <a:ext cx="2124592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8681365" y="1405144"/>
              <a:ext cx="2124592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8681365" y="2360401"/>
              <a:ext cx="2124592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897506"/>
              <a:ext cx="1932388" cy="97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0"/>
                </a:lnSpc>
              </a:pPr>
              <a:r>
                <a:rPr lang="en-US" sz="2050">
                  <a:solidFill>
                    <a:srgbClr val="000000"/>
                  </a:solidFill>
                  <a:latin typeface="Futura"/>
                </a:rPr>
                <a:t>FUEL + AIR</a:t>
              </a:r>
            </a:p>
            <a:p>
              <a:pPr algn="ctr">
                <a:lnSpc>
                  <a:spcPts val="2870"/>
                </a:lnSpc>
              </a:pPr>
              <a:r>
                <a:rPr lang="en-US" sz="2050">
                  <a:solidFill>
                    <a:srgbClr val="000000"/>
                  </a:solidFill>
                  <a:latin typeface="Futura"/>
                </a:rPr>
                <a:t>INLET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07558" y="849572"/>
              <a:ext cx="1817654" cy="9746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0"/>
                </a:lnSpc>
              </a:pPr>
              <a:r>
                <a:rPr lang="en-US" sz="2050">
                  <a:solidFill>
                    <a:srgbClr val="000000"/>
                  </a:solidFill>
                  <a:latin typeface="Futura"/>
                </a:rPr>
                <a:t>FUEL + AIR</a:t>
              </a:r>
            </a:p>
            <a:p>
              <a:pPr algn="ctr">
                <a:lnSpc>
                  <a:spcPts val="2870"/>
                </a:lnSpc>
              </a:pPr>
              <a:r>
                <a:rPr lang="en-US" sz="2050">
                  <a:solidFill>
                    <a:srgbClr val="000000"/>
                  </a:solidFill>
                  <a:latin typeface="Futura"/>
                </a:rPr>
                <a:t>OUTLET</a:t>
              </a:r>
            </a:p>
          </p:txBody>
        </p:sp>
        <p:sp>
          <p:nvSpPr>
            <p:cNvPr id="17" name="AutoShape 17"/>
            <p:cNvSpPr/>
            <p:nvPr/>
          </p:nvSpPr>
          <p:spPr>
            <a:xfrm flipH="1" flipV="1">
              <a:off x="5815540" y="2313525"/>
              <a:ext cx="1108781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6893071" y="3955273"/>
              <a:ext cx="1502892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51583" y="3680311"/>
              <a:ext cx="2863728" cy="495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0"/>
                </a:lnSpc>
              </a:pPr>
              <a:r>
                <a:rPr lang="en-US" sz="2050">
                  <a:solidFill>
                    <a:srgbClr val="000000"/>
                  </a:solidFill>
                  <a:latin typeface="Futura"/>
                </a:rPr>
                <a:t>POROUS MEDIUM</a:t>
              </a: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6908696" y="2292692"/>
              <a:ext cx="0" cy="1678206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" name="AutoShape 21"/>
            <p:cNvSpPr/>
            <p:nvPr/>
          </p:nvSpPr>
          <p:spPr>
            <a:xfrm flipV="1">
              <a:off x="4402694" y="2854733"/>
              <a:ext cx="0" cy="196112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4381861" y="4800228"/>
              <a:ext cx="1502892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84752" y="4509641"/>
              <a:ext cx="1005460" cy="495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0"/>
                </a:lnSpc>
              </a:pPr>
              <a:r>
                <a:rPr lang="en-US" sz="2050">
                  <a:solidFill>
                    <a:srgbClr val="000000"/>
                  </a:solidFill>
                  <a:latin typeface="Futura"/>
                </a:rPr>
                <a:t>PIPE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02620" y="243021"/>
            <a:ext cx="10853341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PROBLEM STATEMENT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2620" y="2357649"/>
            <a:ext cx="7781925" cy="659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A premixed air-fuel mixture enters the combustion pipe from the inlet.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Inside the pipe is placed a plate made of porous material which serves as our porous medium.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air-fuel mixture undergoes combustion in the porous plate. Thus, the flame is held in the plate.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Fresh air-fuel mixture continues to enter from the inlet and leave from the outlet after combustion.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46652" y="8558106"/>
            <a:ext cx="5785051" cy="537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Futura"/>
              </a:rPr>
              <a:t>SCHEMATIC OF THE SET-UP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9357" y="5968998"/>
            <a:ext cx="9554670" cy="171174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9811" y="7937605"/>
            <a:ext cx="6333763" cy="145226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02620" y="261373"/>
            <a:ext cx="13253075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GOVERNING EQUATIONS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620" y="2195786"/>
            <a:ext cx="16942549" cy="299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system can be modeled as two separate energy equations.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air-fuel mixture is treated as a homogenous gas while the porous medium is treated as a homogenous solid, both with constant properties.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Combustion is modeled as a constant heat source term released at a certain location in the porous medium.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497064"/>
            <a:ext cx="472247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For the air-fuel mixture: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347690"/>
            <a:ext cx="472247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For the porous medium: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2622"/>
          <a:stretch>
            <a:fillRect/>
          </a:stretch>
        </p:blipFill>
        <p:spPr>
          <a:xfrm>
            <a:off x="12260230" y="3163539"/>
            <a:ext cx="3595397" cy="209893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2128992" y="3163539"/>
            <a:ext cx="299456" cy="2115044"/>
            <a:chOff x="0" y="0"/>
            <a:chExt cx="115079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5079" cy="812800"/>
            </a:xfrm>
            <a:custGeom>
              <a:avLst/>
              <a:gdLst/>
              <a:ahLst/>
              <a:cxnLst/>
              <a:rect l="l" t="t" r="r" b="b"/>
              <a:pathLst>
                <a:path w="115079" h="812800">
                  <a:moveTo>
                    <a:pt x="0" y="0"/>
                  </a:moveTo>
                  <a:lnTo>
                    <a:pt x="115079" y="0"/>
                  </a:lnTo>
                  <a:lnTo>
                    <a:pt x="11507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812800" cy="898525"/>
            </a:xfrm>
            <a:prstGeom prst="rect">
              <a:avLst/>
            </a:prstGeom>
          </p:spPr>
          <p:txBody>
            <a:bodyPr lIns="36902" tIns="36902" rIns="36902" bIns="36902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0070574" y="5278582"/>
            <a:ext cx="578505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070574" y="3163539"/>
            <a:ext cx="578505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9589486" y="3522569"/>
            <a:ext cx="159344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" name="AutoShape 9"/>
          <p:cNvSpPr/>
          <p:nvPr/>
        </p:nvSpPr>
        <p:spPr>
          <a:xfrm>
            <a:off x="9589486" y="4203109"/>
            <a:ext cx="159344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0" name="AutoShape 10"/>
          <p:cNvSpPr/>
          <p:nvPr/>
        </p:nvSpPr>
        <p:spPr>
          <a:xfrm>
            <a:off x="9589486" y="4919551"/>
            <a:ext cx="159344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" name="AutoShape 11"/>
          <p:cNvSpPr/>
          <p:nvPr/>
        </p:nvSpPr>
        <p:spPr>
          <a:xfrm>
            <a:off x="14577816" y="3522569"/>
            <a:ext cx="159344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2" name="AutoShape 12"/>
          <p:cNvSpPr/>
          <p:nvPr/>
        </p:nvSpPr>
        <p:spPr>
          <a:xfrm>
            <a:off x="14577816" y="4203109"/>
            <a:ext cx="159344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AutoShape 13"/>
          <p:cNvSpPr/>
          <p:nvPr/>
        </p:nvSpPr>
        <p:spPr>
          <a:xfrm>
            <a:off x="14577816" y="4919551"/>
            <a:ext cx="159344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4" name="AutoShape 14"/>
          <p:cNvSpPr/>
          <p:nvPr/>
        </p:nvSpPr>
        <p:spPr>
          <a:xfrm flipH="1" flipV="1">
            <a:off x="12428447" y="4884395"/>
            <a:ext cx="8315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" name="AutoShape 15"/>
          <p:cNvSpPr/>
          <p:nvPr/>
        </p:nvSpPr>
        <p:spPr>
          <a:xfrm>
            <a:off x="13236596" y="6115706"/>
            <a:ext cx="112716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3248314" y="4868770"/>
            <a:ext cx="0" cy="12586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flipV="1">
            <a:off x="11367475" y="4938601"/>
            <a:ext cx="0" cy="216747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8" name="AutoShape 18"/>
          <p:cNvSpPr/>
          <p:nvPr/>
        </p:nvSpPr>
        <p:spPr>
          <a:xfrm>
            <a:off x="11353188" y="7102319"/>
            <a:ext cx="112716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502620" y="270898"/>
            <a:ext cx="17591411" cy="1596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759"/>
              </a:lnSpc>
            </a:pPr>
            <a:r>
              <a:rPr lang="en-US" sz="8399">
                <a:solidFill>
                  <a:srgbClr val="000000"/>
                </a:solidFill>
                <a:latin typeface="Futura"/>
              </a:rPr>
              <a:t>BOUNDARY &amp; INITIAL CONDITIONS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2620" y="2357649"/>
            <a:ext cx="7781925" cy="479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Initial Conditions: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porous plate and the air-fuel mixture are both at 473K.</a:t>
            </a:r>
          </a:p>
          <a:p>
            <a:pPr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Josefin Sans Thin Bold"/>
            </a:endParaRPr>
          </a:p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Boundary Conditions: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inlet temperature is 473K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outlet is at zero temperature gradient.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5265" y="8485593"/>
            <a:ext cx="8204796" cy="64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utura"/>
              </a:rPr>
              <a:t>BOUNDARY CONDITIONS OF THE SET-UP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66793" y="3800949"/>
            <a:ext cx="1449291" cy="75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000000"/>
                </a:solidFill>
                <a:latin typeface="Futura"/>
              </a:rPr>
              <a:t>INLET</a:t>
            </a:r>
          </a:p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000000"/>
                </a:solidFill>
                <a:latin typeface="Futura"/>
              </a:rPr>
              <a:t>(473K)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247461" y="3467454"/>
            <a:ext cx="1846571" cy="1471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000000"/>
                </a:solidFill>
                <a:latin typeface="Futura"/>
              </a:rPr>
              <a:t>OUTLET</a:t>
            </a:r>
          </a:p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000000"/>
                </a:solidFill>
                <a:latin typeface="Futura"/>
              </a:rPr>
              <a:t>(Zero Temperature Gradient)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405480" y="5888053"/>
            <a:ext cx="2147796" cy="1111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000000"/>
                </a:solidFill>
                <a:latin typeface="Futura"/>
              </a:rPr>
              <a:t>POROUS MEDIUM</a:t>
            </a:r>
          </a:p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000000"/>
                </a:solidFill>
                <a:latin typeface="Futura"/>
              </a:rPr>
              <a:t>(INITIALLY AT 473K)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80357" y="6338170"/>
            <a:ext cx="1734612" cy="1471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000000"/>
                </a:solidFill>
                <a:latin typeface="Futura"/>
              </a:rPr>
              <a:t>AIR-FUEL MIXTURE (INITIALLY AT 473K)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88650" y="3068318"/>
            <a:ext cx="4286045" cy="267975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3790"/>
          <a:stretch>
            <a:fillRect/>
          </a:stretch>
        </p:blipFill>
        <p:spPr>
          <a:xfrm>
            <a:off x="5440074" y="3128444"/>
            <a:ext cx="3989955" cy="255950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28700" y="8138367"/>
            <a:ext cx="4367715" cy="86790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72359" y="7439715"/>
            <a:ext cx="4367715" cy="79773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28700" y="8875621"/>
            <a:ext cx="4587960" cy="71052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02620" y="261373"/>
            <a:ext cx="13253075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SET-UP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8650" y="2366262"/>
            <a:ext cx="16942549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values of the parameters used for the simulation are: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8650" y="6249725"/>
            <a:ext cx="9092268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simulation is run at three different velocities: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620" y="2737635"/>
            <a:ext cx="17173260" cy="359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governing equation for the air-fuel mixture have advection as well as diffusion terms.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Depending upon the values of the set-up parameters along with the velocity of the air-fuel mixture, the system will either have advection or diffusion as the dominating factor.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For analysis, the governing equations are non-dimensionalized and the values of the coefficients compared. Velocities above the threshold are advection dominant while below it are diffusion dominant.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2620" y="261373"/>
            <a:ext cx="14202866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ADVECTION VS. DIFFUSION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535826" y="6781842"/>
            <a:ext cx="13216348" cy="2476458"/>
            <a:chOff x="0" y="0"/>
            <a:chExt cx="17621797" cy="3301944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17621797" cy="1934218"/>
            </a:xfrm>
            <a:prstGeom prst="rect">
              <a:avLst/>
            </a:prstGeom>
          </p:spPr>
        </p:pic>
        <p:grpSp>
          <p:nvGrpSpPr>
            <p:cNvPr id="6" name="Group 6"/>
            <p:cNvGrpSpPr/>
            <p:nvPr/>
          </p:nvGrpSpPr>
          <p:grpSpPr>
            <a:xfrm>
              <a:off x="7223022" y="0"/>
              <a:ext cx="3760621" cy="1934218"/>
              <a:chOff x="0" y="0"/>
              <a:chExt cx="812800" cy="4180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41805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18051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18051"/>
                    </a:lnTo>
                    <a:lnTo>
                      <a:pt x="0" y="41805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>
                <a:solidFill>
                  <a:srgbClr val="000000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85725"/>
                <a:ext cx="812800" cy="8985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0"/>
                  </a:lnSpc>
                </a:pPr>
                <a:endParaRPr/>
              </a:p>
            </p:txBody>
          </p:sp>
        </p:grpSp>
        <p:sp>
          <p:nvSpPr>
            <p:cNvPr id="9" name="AutoShape 9"/>
            <p:cNvSpPr/>
            <p:nvPr/>
          </p:nvSpPr>
          <p:spPr>
            <a:xfrm flipV="1">
              <a:off x="9085922" y="1934403"/>
              <a:ext cx="0" cy="1147407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9068512" y="3081810"/>
              <a:ext cx="1373531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30943" y="2814052"/>
              <a:ext cx="1711060" cy="487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Futura"/>
                </a:rPr>
                <a:t>DIFFUSION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328549" y="0"/>
              <a:ext cx="6430198" cy="1934218"/>
              <a:chOff x="0" y="0"/>
              <a:chExt cx="1389788" cy="41805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389788" cy="418051"/>
              </a:xfrm>
              <a:custGeom>
                <a:avLst/>
                <a:gdLst/>
                <a:ahLst/>
                <a:cxnLst/>
                <a:rect l="l" t="t" r="r" b="b"/>
                <a:pathLst>
                  <a:path w="1389788" h="418051">
                    <a:moveTo>
                      <a:pt x="0" y="0"/>
                    </a:moveTo>
                    <a:lnTo>
                      <a:pt x="1389788" y="0"/>
                    </a:lnTo>
                    <a:lnTo>
                      <a:pt x="1389788" y="418051"/>
                    </a:lnTo>
                    <a:lnTo>
                      <a:pt x="0" y="41805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>
                <a:solidFill>
                  <a:srgbClr val="00000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85725"/>
                <a:ext cx="812800" cy="8985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 flipV="1">
              <a:off x="3526238" y="1934403"/>
              <a:ext cx="0" cy="111803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2170117" y="3046990"/>
              <a:ext cx="1373531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5369" y="2795002"/>
              <a:ext cx="1915848" cy="487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Futura"/>
                </a:rPr>
                <a:t>ADVECTION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17059" y="1928645"/>
            <a:ext cx="472247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For the air-fuel mixture: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620" y="261373"/>
            <a:ext cx="14202866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ADVECTION VS. DIFFUSION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30611" y="2238163"/>
            <a:ext cx="11152166" cy="2542633"/>
            <a:chOff x="0" y="0"/>
            <a:chExt cx="14869555" cy="3390178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7032816" y="1309687"/>
              <a:ext cx="7836739" cy="2080491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0" y="-76200"/>
              <a:ext cx="14547947" cy="761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Josefin Sans Thin Bold"/>
                </a:rPr>
                <a:t>Equating the coefficients of advection and diffusion terms: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0611" y="4246884"/>
            <a:ext cx="5455480" cy="1905566"/>
            <a:chOff x="0" y="0"/>
            <a:chExt cx="7273973" cy="2540755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/>
            <a:srcRect b="50065"/>
            <a:stretch>
              <a:fillRect/>
            </a:stretch>
          </p:blipFill>
          <p:spPr>
            <a:xfrm>
              <a:off x="736184" y="985850"/>
              <a:ext cx="3067981" cy="1554905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 l="603" t="49331" r="603"/>
            <a:stretch>
              <a:fillRect/>
            </a:stretch>
          </p:blipFill>
          <p:spPr>
            <a:xfrm>
              <a:off x="4205992" y="943726"/>
              <a:ext cx="3067981" cy="1597029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0" y="-76200"/>
              <a:ext cx="4585529" cy="761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Josefin Sans Thin Bold"/>
                </a:rPr>
                <a:t>For the values of: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0611" y="6704978"/>
            <a:ext cx="10726640" cy="2553322"/>
            <a:chOff x="0" y="0"/>
            <a:chExt cx="14302187" cy="3404429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4"/>
            <a:srcRect l="4206" t="4455" b="4455"/>
            <a:stretch>
              <a:fillRect/>
            </a:stretch>
          </p:blipFill>
          <p:spPr>
            <a:xfrm>
              <a:off x="8686194" y="873351"/>
              <a:ext cx="4879096" cy="740428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/>
            <a:srcRect l="1717" r="1476"/>
            <a:stretch>
              <a:fillRect/>
            </a:stretch>
          </p:blipFill>
          <p:spPr>
            <a:xfrm>
              <a:off x="8298412" y="2311481"/>
              <a:ext cx="6003775" cy="1092948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0" y="-76200"/>
              <a:ext cx="11125742" cy="761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Josefin Sans Thin Bold"/>
                </a:rPr>
                <a:t>The value of the non-dimensional velocity is: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892805"/>
              <a:ext cx="11125742" cy="761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Josefin Sans Thin Bold"/>
                </a:rPr>
                <a:t>The value of threshold velocity is: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620" y="261373"/>
            <a:ext cx="14202866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ADVECTION VS. DIFFUSION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606968" y="5143500"/>
            <a:ext cx="11815541" cy="2698139"/>
            <a:chOff x="0" y="0"/>
            <a:chExt cx="15754054" cy="3597519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15754054" cy="2842930"/>
            </a:xfrm>
            <a:prstGeom prst="rect">
              <a:avLst/>
            </a:prstGeom>
          </p:spPr>
        </p:pic>
        <p:grpSp>
          <p:nvGrpSpPr>
            <p:cNvPr id="5" name="Group 5"/>
            <p:cNvGrpSpPr/>
            <p:nvPr/>
          </p:nvGrpSpPr>
          <p:grpSpPr>
            <a:xfrm>
              <a:off x="4200332" y="456309"/>
              <a:ext cx="4759766" cy="1827121"/>
              <a:chOff x="0" y="0"/>
              <a:chExt cx="1089050" cy="41805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089050" cy="418051"/>
              </a:xfrm>
              <a:custGeom>
                <a:avLst/>
                <a:gdLst/>
                <a:ahLst/>
                <a:cxnLst/>
                <a:rect l="l" t="t" r="r" b="b"/>
                <a:pathLst>
                  <a:path w="1089050" h="418051">
                    <a:moveTo>
                      <a:pt x="0" y="0"/>
                    </a:moveTo>
                    <a:lnTo>
                      <a:pt x="1089050" y="0"/>
                    </a:lnTo>
                    <a:lnTo>
                      <a:pt x="1089050" y="418051"/>
                    </a:lnTo>
                    <a:lnTo>
                      <a:pt x="0" y="41805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>
                <a:solidFill>
                  <a:srgbClr val="000000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85725"/>
                <a:ext cx="812800" cy="898525"/>
              </a:xfrm>
              <a:prstGeom prst="rect">
                <a:avLst/>
              </a:prstGeom>
            </p:spPr>
            <p:txBody>
              <a:bodyPr lIns="47987" tIns="47987" rIns="47987" bIns="47987" rtlCol="0" anchor="ctr"/>
              <a:lstStyle/>
              <a:p>
                <a:pPr algn="ctr">
                  <a:lnSpc>
                    <a:spcPts val="2870"/>
                  </a:lnSpc>
                </a:pPr>
                <a:endParaRPr/>
              </a:p>
            </p:txBody>
          </p:sp>
        </p:grpSp>
        <p:sp>
          <p:nvSpPr>
            <p:cNvPr id="8" name="AutoShape 8"/>
            <p:cNvSpPr/>
            <p:nvPr/>
          </p:nvSpPr>
          <p:spPr>
            <a:xfrm flipV="1">
              <a:off x="6598211" y="2283431"/>
              <a:ext cx="0" cy="1083876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9" name="AutoShape 9"/>
            <p:cNvSpPr/>
            <p:nvPr/>
          </p:nvSpPr>
          <p:spPr>
            <a:xfrm>
              <a:off x="6581764" y="3367307"/>
              <a:ext cx="1297479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63221" y="3109627"/>
              <a:ext cx="1768418" cy="487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Futura"/>
                </a:rPr>
                <a:t>DIFFUSION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02620" y="2983800"/>
            <a:ext cx="12764654" cy="1189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porous medium does not have any advection terms.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porous medium has only diffusion.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041460"/>
            <a:ext cx="472247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For the porous medium: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620" y="270898"/>
            <a:ext cx="17785380" cy="1596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760"/>
              </a:lnSpc>
            </a:pPr>
            <a:r>
              <a:rPr lang="en-US" sz="8400">
                <a:solidFill>
                  <a:srgbClr val="000000"/>
                </a:solidFill>
                <a:latin typeface="Futura"/>
              </a:rPr>
              <a:t>NUMERICAL SCHEME &amp; ACCURACY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2620" y="2195786"/>
            <a:ext cx="16942549" cy="239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two differential equations have been discretized using forward time and central space (FTCS) scheme.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Within the constraints of the problem, FTCS provides a computationally inexpensive and reasonably accurate way to simulate the system.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810442"/>
            <a:ext cx="472247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For the air-fuel mixture: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22185" y="5400358"/>
            <a:ext cx="12746251" cy="45990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342043" y="3982680"/>
            <a:ext cx="13603914" cy="416689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02620" y="270898"/>
            <a:ext cx="18319587" cy="1596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760"/>
              </a:lnSpc>
            </a:pPr>
            <a:r>
              <a:rPr lang="en-US" sz="8400">
                <a:solidFill>
                  <a:srgbClr val="000000"/>
                </a:solidFill>
                <a:latin typeface="Futura"/>
              </a:rPr>
              <a:t>NUMERICAL SCHEME &amp; ACCURACY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85493"/>
            <a:ext cx="472247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For the porous medium: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430368" y="4438766"/>
          <a:ext cx="7315200" cy="412432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8292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Josefin Sans Regular"/>
                        </a:rPr>
                        <a:t>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Josefin Sans Regular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678">
                <a:tc>
                  <a:txBody>
                    <a:bodyPr/>
                    <a:lstStyle/>
                    <a:p>
                      <a:pPr algn="ctr">
                        <a:lnSpc>
                          <a:spcPts val="3290"/>
                        </a:lnSpc>
                        <a:defRPr/>
                      </a:pPr>
                      <a:r>
                        <a:rPr lang="en-US" sz="2350">
                          <a:solidFill>
                            <a:srgbClr val="000000"/>
                          </a:solidFill>
                          <a:latin typeface="Futura"/>
                        </a:rPr>
                        <a:t>Air-Fuel Advection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90"/>
                        </a:lnSpc>
                        <a:defRPr/>
                      </a:pPr>
                      <a:r>
                        <a:rPr lang="en-US" sz="2350">
                          <a:solidFill>
                            <a:srgbClr val="000000"/>
                          </a:solidFill>
                          <a:latin typeface="Futura"/>
                        </a:rPr>
                        <a:t>10^-4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678">
                <a:tc>
                  <a:txBody>
                    <a:bodyPr/>
                    <a:lstStyle/>
                    <a:p>
                      <a:pPr algn="ctr">
                        <a:lnSpc>
                          <a:spcPts val="3290"/>
                        </a:lnSpc>
                        <a:defRPr/>
                      </a:pPr>
                      <a:r>
                        <a:rPr lang="en-US" sz="2350">
                          <a:solidFill>
                            <a:srgbClr val="000000"/>
                          </a:solidFill>
                          <a:latin typeface="Futura"/>
                        </a:rPr>
                        <a:t>Air-Fuel Diffusion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90"/>
                        </a:lnSpc>
                        <a:defRPr/>
                      </a:pPr>
                      <a:r>
                        <a:rPr lang="en-US" sz="2350">
                          <a:solidFill>
                            <a:srgbClr val="000000"/>
                          </a:solidFill>
                          <a:latin typeface="Futura"/>
                        </a:rPr>
                        <a:t>7.87x10^-3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678">
                <a:tc>
                  <a:txBody>
                    <a:bodyPr/>
                    <a:lstStyle/>
                    <a:p>
                      <a:pPr algn="ctr">
                        <a:lnSpc>
                          <a:spcPts val="3290"/>
                        </a:lnSpc>
                        <a:defRPr/>
                      </a:pPr>
                      <a:r>
                        <a:rPr lang="en-US" sz="2350">
                          <a:solidFill>
                            <a:srgbClr val="000000"/>
                          </a:solidFill>
                          <a:latin typeface="Futura"/>
                        </a:rPr>
                        <a:t>Solid Diffusion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90"/>
                        </a:lnSpc>
                        <a:defRPr/>
                      </a:pPr>
                      <a:r>
                        <a:rPr lang="en-US" sz="2350">
                          <a:solidFill>
                            <a:srgbClr val="000000"/>
                          </a:solidFill>
                          <a:latin typeface="Futura"/>
                        </a:rPr>
                        <a:t>3.35x10^-4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502620" y="261373"/>
            <a:ext cx="14745604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STABILITY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620" y="2195786"/>
            <a:ext cx="17170696" cy="1189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For stability analysis, CFL numbers are calculated.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most stringent number is 10^-4 and is taken as target and velocities chosen.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620" y="2195786"/>
            <a:ext cx="16942549" cy="539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Make separate grids of the same resolution but different sizes for the solid and gaseous parts.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Define the time step.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Declare the boundary conditions.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Select the value of the velocity as per advection or diffusion dominance.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Discretize the equations using FTCS.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For time step 'n', plug the required values in the discretized equations to get the values of temperature of the next step.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Repeat step 6 from the 1st to the last time step.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2620" y="261373"/>
            <a:ext cx="13253075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ALGORITHM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818008" y="5544445"/>
          <a:ext cx="12651984" cy="4171950"/>
        </p:xfrm>
        <a:graphic>
          <a:graphicData uri="http://schemas.openxmlformats.org/drawingml/2006/table">
            <a:tbl>
              <a:tblPr/>
              <a:tblGrid>
                <a:gridCol w="4217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7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7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6952"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Node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Solid Residual Value (*10^-2)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Gaseous Residual Value (*10^-4)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1666">
                <a:tc>
                  <a:txBody>
                    <a:bodyPr/>
                    <a:lstStyle/>
                    <a:p>
                      <a:pPr algn="ct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Futura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Futura"/>
                        </a:rPr>
                        <a:t>8.5209696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Futura"/>
                        </a:rPr>
                        <a:t>-1.6771823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1666">
                <a:tc>
                  <a:txBody>
                    <a:bodyPr/>
                    <a:lstStyle/>
                    <a:p>
                      <a:pPr algn="ct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Futura"/>
                        </a:rPr>
                        <a:t>60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Futura"/>
                        </a:rPr>
                        <a:t>-0.0165757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Futura"/>
                        </a:rPr>
                        <a:t>-1.6771320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1666">
                <a:tc>
                  <a:txBody>
                    <a:bodyPr/>
                    <a:lstStyle/>
                    <a:p>
                      <a:pPr algn="ct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Futura"/>
                        </a:rPr>
                        <a:t>92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Futura"/>
                        </a:rPr>
                        <a:t>-1.5606060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30"/>
                        </a:lnSpc>
                        <a:defRPr/>
                      </a:pPr>
                      <a:r>
                        <a:rPr lang="en-US" sz="2450">
                          <a:solidFill>
                            <a:srgbClr val="000000"/>
                          </a:solidFill>
                          <a:latin typeface="Futura"/>
                        </a:rPr>
                        <a:t>-8.3385744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502620" y="261373"/>
            <a:ext cx="15505436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RESIDUALS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620" y="2195786"/>
            <a:ext cx="17170696" cy="299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For the calculation of the residuals, the temperature data generated from the simulation is plugged into the original difference equations.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data is taken at three different nodes corresponding to the solid grid and the gaseous air-fuel mixture grid.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target was set as &gt;0.1 and all the three test nodes satisfied the target for both grids.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87899" y="3985851"/>
            <a:ext cx="11285417" cy="5628584"/>
          </a:xfrm>
          <a:prstGeom prst="rect">
            <a:avLst/>
          </a:prstGeom>
        </p:spPr>
      </p:pic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370503" y="4531735"/>
          <a:ext cx="5818542" cy="4114800"/>
        </p:xfrm>
        <a:graphic>
          <a:graphicData uri="http://schemas.openxmlformats.org/drawingml/2006/table">
            <a:tbl>
              <a:tblPr/>
              <a:tblGrid>
                <a:gridCol w="1820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7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Josefin Sans Regular"/>
                        </a:rPr>
                        <a:t>COLOUR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Josefin Sans Regular"/>
                        </a:rPr>
                        <a:t>SOLIDxTIME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786"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Blue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50x100000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614"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75x150000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Green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0"/>
                        </a:lnSpc>
                        <a:defRPr/>
                      </a:pPr>
                      <a:r>
                        <a:rPr lang="en-US" sz="2050">
                          <a:solidFill>
                            <a:srgbClr val="000000"/>
                          </a:solidFill>
                          <a:latin typeface="Futura"/>
                        </a:rPr>
                        <a:t>100x200000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02620" y="261373"/>
            <a:ext cx="13253075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GRID INDEPENDENCE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620" y="2195786"/>
            <a:ext cx="17170696" cy="1189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simulation is run for 10^-3 m/s at 3 different resolutions.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Maximum difference between two grid resolutions was 0.022K.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620" y="261373"/>
            <a:ext cx="13253075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GRID INDEPENDENCE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91623" y="3742144"/>
          <a:ext cx="5818542" cy="4114800"/>
        </p:xfrm>
        <a:graphic>
          <a:graphicData uri="http://schemas.openxmlformats.org/drawingml/2006/table">
            <a:tbl>
              <a:tblPr/>
              <a:tblGrid>
                <a:gridCol w="1820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7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Josefin Sans Regular"/>
                        </a:rPr>
                        <a:t>COLOUR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Josefin Sans Regular"/>
                        </a:rPr>
                        <a:t>GASxTIME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786"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Blue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2000x100000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614"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3000x150000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Green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Futura"/>
                        </a:rPr>
                        <a:t>4000x200000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21163" y="3230573"/>
            <a:ext cx="11352153" cy="55150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44940" y="2983343"/>
            <a:ext cx="7273636" cy="545522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85664" y="2983343"/>
            <a:ext cx="7273636" cy="545522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158212" y="8726962"/>
            <a:ext cx="388439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Air-Fuel Mixture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12243" y="8726962"/>
            <a:ext cx="388439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Porous Medium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620" y="261373"/>
            <a:ext cx="14202866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620" y="2195786"/>
            <a:ext cx="17170696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Velocity=10^-2 m/s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21349" y="3321083"/>
            <a:ext cx="6558120" cy="528101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77843" y="3339751"/>
            <a:ext cx="6953196" cy="526234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158212" y="8726962"/>
            <a:ext cx="388439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Air-Fuel Mixture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12243" y="8726962"/>
            <a:ext cx="388439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Porous Medium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620" y="261373"/>
            <a:ext cx="14202866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620" y="2195786"/>
            <a:ext cx="17170696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Velocity=10^-3 m/s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61862" y="3025497"/>
            <a:ext cx="6877094" cy="553787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71414" y="3025497"/>
            <a:ext cx="6966053" cy="541018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158212" y="8726962"/>
            <a:ext cx="388439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Air-Fuel Mixture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12243" y="8726962"/>
            <a:ext cx="3884394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Porous Medium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620" y="261373"/>
            <a:ext cx="14202866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620" y="2195786"/>
            <a:ext cx="17170696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Velocity=10^-6 m/s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620" y="261373"/>
            <a:ext cx="14392824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PHYSICS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2620" y="2195786"/>
            <a:ext cx="16942549" cy="599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system is seen to have a spike in temperature for the gaseous phase as it passes through the porous medium.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rise in temperature is expected as the gas picks up heat from the flame in the porous medium.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Sufficient length of pipe is taken to allow for temperature gradient to go to zero after the porous medium as is seen from the graphs.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For the diffusion dominant case, the drop in temperature as diffusion takes over shows a smoother variation than for the advection dominant term.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For the solid, the temperature profile is a concave downward curve as is expected because of the diffusion of heat in the entire solid.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66849" y="5143500"/>
            <a:ext cx="6154302" cy="489783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02620" y="261373"/>
            <a:ext cx="14202866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000000"/>
                </a:solidFill>
                <a:latin typeface="Futura"/>
              </a:rPr>
              <a:t>PHYSICS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4365" y="1807593"/>
            <a:ext cx="17359270" cy="359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The faster the velocity, the more dominating is the advection part of the equation.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Thus, to illustrate the dominance of advection over diffusion and vice-versa, the diffusion constants are changed by a factor of 1000 to allow for faster diffusion.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Thus, the temperature gradient "smoothens-out" due to increased diffusion.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Josefin Sans Thin Bold"/>
              </a:rPr>
              <a:t>It is to be noted that this is just a demonstration and does not hold any real world significance.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0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42567" y="4165603"/>
            <a:ext cx="14202866" cy="162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00"/>
              </a:lnSpc>
            </a:pPr>
            <a:r>
              <a:rPr lang="en-US" sz="8500">
                <a:solidFill>
                  <a:srgbClr val="FFFAEB"/>
                </a:solidFill>
                <a:latin typeface="Futura"/>
              </a:rPr>
              <a:t>THANK YOU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418050" y="4706321"/>
            <a:ext cx="6869950" cy="8743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1007</Words>
  <Application>Microsoft Office PowerPoint</Application>
  <PresentationFormat>Custom</PresentationFormat>
  <Paragraphs>160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Futura</vt:lpstr>
      <vt:lpstr>Josefin Sans Thin Bold</vt:lpstr>
      <vt:lpstr>Josefin Sans Regular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COMBUSTION IN POROUS MEDIA</dc:title>
  <cp:lastModifiedBy>Vardhan Mittal</cp:lastModifiedBy>
  <cp:revision>2</cp:revision>
  <dcterms:created xsi:type="dcterms:W3CDTF">2006-08-16T00:00:00Z</dcterms:created>
  <dcterms:modified xsi:type="dcterms:W3CDTF">2023-05-03T20:46:00Z</dcterms:modified>
  <dc:identifier>DAFhyjGupnQ</dc:identifier>
</cp:coreProperties>
</file>